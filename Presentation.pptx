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8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4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0106"/>
            <a:ext cx="5857875" cy="1225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850106"/>
            <a:ext cx="57150" cy="1225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957263" y="850106"/>
            <a:ext cx="561498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3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DATABASES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57263" y="1182291"/>
            <a:ext cx="5614988" cy="4808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1600"/>
              </a:lnSpc>
              <a:buNone/>
            </a:pPr>
            <a:r>
              <a:rPr lang="en-US" sz="340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MedPulseDB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57263" y="1834604"/>
            <a:ext cx="561498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Treatment and Diagnostic Management Database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2950" y="3520253"/>
            <a:ext cx="2706221" cy="4571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742950" y="3601445"/>
            <a:ext cx="3370168" cy="899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r>
              <a:rPr lang="en-US" sz="1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Student </a:t>
            </a:r>
            <a:r>
              <a:rPr lang="en-US" sz="1400" dirty="0" err="1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Name:farida</a:t>
            </a:r>
            <a:r>
              <a:rPr lang="en-US" sz="1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arafa</a:t>
            </a:r>
            <a:endParaRPr lang="en-US" sz="1400" dirty="0">
              <a:solidFill>
                <a:srgbClr val="ECF0F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4000"/>
              </a:lnSpc>
              <a:buNone/>
            </a:pPr>
            <a:r>
              <a:rPr lang="en-US" sz="1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ID:221001516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50056"/>
            <a:ext cx="782955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221581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507206"/>
            <a:ext cx="366161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RATIONALE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710803"/>
            <a:ext cx="366161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0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motivation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612670" y="450056"/>
            <a:ext cx="874105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5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657225" y="1685925"/>
            <a:ext cx="4071324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5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information loses value when it is fragmented across disconnected files.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7225" y="2680302"/>
            <a:ext cx="4071324" cy="8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Patients, studies, specialists, treatments, diagnostic results, clinics, formulations, and stock need consistent identifiers and relationships. MedPulseDB turns those disconnected facts into one queryable relational system.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71486" y="1685925"/>
            <a:ext cx="184314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RECORDS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71486" y="1893094"/>
            <a:ext cx="307404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information and unclear ownership.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71486" y="2271713"/>
            <a:ext cx="122649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RISK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71486" y="2478881"/>
            <a:ext cx="307404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references and weak business-rule control.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71486" y="3036094"/>
            <a:ext cx="168849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RESPONSE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71486" y="3243263"/>
            <a:ext cx="307404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Keys, relationships, reusable views, and validation logic.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50056"/>
            <a:ext cx="7829550" cy="7108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146572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450056"/>
            <a:ext cx="78295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Scope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653653"/>
            <a:ext cx="78295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users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57225" y="1868091"/>
            <a:ext cx="183951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7225" y="2278856"/>
            <a:ext cx="183951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records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7225" y="2503884"/>
            <a:ext cx="1839516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and study participation.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653903" y="1868091"/>
            <a:ext cx="183951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653903" y="2278856"/>
            <a:ext cx="183951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workflow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53903" y="2503884"/>
            <a:ext cx="1839516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Specialists, sessions, formulations, and clinics.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50581" y="1868091"/>
            <a:ext cx="183951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650581" y="2278856"/>
            <a:ext cx="183951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50581" y="2503884"/>
            <a:ext cx="1839516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linked to treatment logs and studies.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647259" y="1868091"/>
            <a:ext cx="183951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47259" y="2278856"/>
            <a:ext cx="183951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47259" y="2503884"/>
            <a:ext cx="1839516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stock quantities and locations.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7225" y="3554016"/>
            <a:ext cx="7829550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57225" y="3554016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1" name="Text 18"/>
          <p:cNvSpPr/>
          <p:nvPr/>
        </p:nvSpPr>
        <p:spPr>
          <a:xfrm>
            <a:off x="657225" y="3554016"/>
            <a:ext cx="7829550" cy="450056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</a:t>
            </a: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clinical coordinators · medical specialists · diagnostic staff · pharmacy staff · database administrators. </a:t>
            </a: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</a:t>
            </a: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fictional educational data only.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21481"/>
            <a:ext cx="7829550" cy="6690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076195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421481"/>
            <a:ext cx="491640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INTEGRITY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625078"/>
            <a:ext cx="4916407" cy="322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business rules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914661" y="536172"/>
            <a:ext cx="572114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3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657225" y="1583401"/>
            <a:ext cx="3857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57288" y="1583401"/>
            <a:ext cx="31646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BEFORE STUDY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7288" y="1790570"/>
            <a:ext cx="31646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clinical study must reference an existing patient profile through a foreign key.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22031" y="1583401"/>
            <a:ext cx="3857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22094" y="1583401"/>
            <a:ext cx="31646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ASSIGNMENT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22094" y="1790570"/>
            <a:ext cx="31646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composite key in STUDY_APPOINTMENT prevents assigning the same specialist twice to one study.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7225" y="2547807"/>
            <a:ext cx="3857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57288" y="2547807"/>
            <a:ext cx="31646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TREATMENT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7288" y="2754976"/>
            <a:ext cx="31646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treatment log belongs to a study, and every diagnostic test belongs to a treatment log.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22031" y="2547807"/>
            <a:ext cx="3857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22094" y="2547807"/>
            <a:ext cx="31646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DELETION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22094" y="2754976"/>
            <a:ext cx="31646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study records cascade, while optional formulation and clinic references are set to NULL.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7225" y="3512214"/>
            <a:ext cx="3857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7288" y="3512214"/>
            <a:ext cx="31646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STOCK QUANTITY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7288" y="3719382"/>
            <a:ext cx="31646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stock trigger rejects an INSERT when AvailableUnits is negative.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57225" y="4440901"/>
            <a:ext cx="782955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57225" y="4440901"/>
            <a:ext cx="7829550" cy="5715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2"/>
          <p:cNvSpPr/>
          <p:nvPr/>
        </p:nvSpPr>
        <p:spPr>
          <a:xfrm>
            <a:off x="657225" y="4440901"/>
            <a:ext cx="7829550" cy="54292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principle:</a:t>
            </a: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operational record should remain identifiable, connected, and consistent with the clinical workflow.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788" y="421481"/>
            <a:ext cx="7972425" cy="6614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85788" y="1068660"/>
            <a:ext cx="7972425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585788" y="428234"/>
            <a:ext cx="225346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CONCEPTUAL DESIGN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85788" y="624687"/>
            <a:ext cx="2253462" cy="322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overview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827150" y="421481"/>
            <a:ext cx="731062" cy="525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4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750" dirty="0"/>
          </a:p>
        </p:txBody>
      </p:sp>
      <p:sp>
        <p:nvSpPr>
          <p:cNvPr id="8" name="Text 5"/>
          <p:cNvSpPr/>
          <p:nvPr/>
        </p:nvSpPr>
        <p:spPr>
          <a:xfrm>
            <a:off x="585788" y="1368698"/>
            <a:ext cx="4287087" cy="16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tables model the complete clinical-treatment workflow.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788" y="2027262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85788" y="2173709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MEDICAL_SPECIALIST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5788" y="2334444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identity and contact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071967" y="2027262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071967" y="2173709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DIAGNOSTIC_CLINIC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71967" y="2334444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and capacity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558146" y="2027262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558146" y="2173709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DRUG_FORMULATION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58146" y="2334444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catalog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85788" y="2681585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85788" y="2828032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PATIENT_PROFILE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5788" y="2988766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and risk data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2071967" y="2681585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2071967" y="2828032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CLINICAL_STUDY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071967" y="2988766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participation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558146" y="2681585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558146" y="2828032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STUDY_APPOINTMENT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558146" y="2988766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 resolver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585788" y="3335908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85788" y="3482355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TREATMENT_LOG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5788" y="3643089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2071967" y="3335908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2071967" y="3482355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DIAGNOSTIC_TEST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071967" y="3643089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outcomes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558146" y="3335908"/>
            <a:ext cx="13147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558146" y="3482355"/>
            <a:ext cx="13147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PHARMACY_STOCK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558146" y="3643089"/>
            <a:ext cx="131472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and storage</a:t>
            </a:r>
            <a:endParaRPr lang="en-US" sz="65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166" y="1368698"/>
            <a:ext cx="3714750" cy="2786063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585788" y="4497660"/>
            <a:ext cx="7972425" cy="2853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585788" y="4497660"/>
            <a:ext cx="7972425" cy="14288"/>
          </a:xfrm>
          <a:prstGeom prst="rect">
            <a:avLst/>
          </a:prstGeom>
          <a:solidFill>
            <a:srgbClr val="BDC3C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8619"/>
            <a:ext cx="81153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4350" y="1025128"/>
            <a:ext cx="811530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378619"/>
            <a:ext cx="18628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CONCEPTUAL DESIGN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557213"/>
            <a:ext cx="1862844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8057536" y="499393"/>
            <a:ext cx="572114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3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50" dirty="0"/>
          </a:p>
        </p:txBody>
      </p:sp>
      <p:sp>
        <p:nvSpPr>
          <p:cNvPr id="8" name="Shape 5"/>
          <p:cNvSpPr/>
          <p:nvPr/>
        </p:nvSpPr>
        <p:spPr>
          <a:xfrm>
            <a:off x="514350" y="1225153"/>
            <a:ext cx="6072188" cy="3607594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4" y="1246584"/>
            <a:ext cx="5715000" cy="3571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43713" y="1410891"/>
            <a:ext cx="19288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ENTITIES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843713" y="1582341"/>
            <a:ext cx="1928813" cy="655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covers patients, studies, specialists, treatment logs, diagnostic tests, clinics, formulations, and pharmacy stock.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843713" y="2545184"/>
            <a:ext cx="19288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M:N RESOLVED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6843713" y="2716634"/>
            <a:ext cx="1928813" cy="655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STUDY_APPOINTMENT</a:t>
            </a:r>
            <a:r>
              <a:rPr lang="en-US" sz="9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resolves the many-to-many relationship between clinical studies and medical specialists.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43713" y="3679478"/>
            <a:ext cx="19288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843713" y="3850928"/>
            <a:ext cx="1928813" cy="491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→ Study → Treatment Log → Diagnostic Test, with optional clinic and formulation references.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35769"/>
            <a:ext cx="7829550" cy="7108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132284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435769"/>
            <a:ext cx="419293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RELATIONAL MAPPING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639366"/>
            <a:ext cx="419293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schema and keys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803375" y="512229"/>
            <a:ext cx="683400" cy="491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44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657225" y="1832372"/>
            <a:ext cx="2447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IDENTIFIERS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7225" y="2132409"/>
            <a:ext cx="24479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primary keys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7225" y="2439591"/>
            <a:ext cx="2447906" cy="57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Auto-increment integers identify the main entities without depending on names, titles, or locations.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7225" y="3110378"/>
            <a:ext cx="2447906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PatientID · StudyID
LogID · TestID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348019" y="1832372"/>
            <a:ext cx="2447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ASSOCIATION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48019" y="2132409"/>
            <a:ext cx="24479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assignment key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348019" y="2439591"/>
            <a:ext cx="2447906" cy="57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associative table prevents a specialist from being assigned twice to the same study.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348019" y="3110378"/>
            <a:ext cx="2447906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
(StudyID, SpecialistID)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38813" y="1832372"/>
            <a:ext cx="2447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INTEGRITY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8813" y="2132409"/>
            <a:ext cx="24479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actions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38813" y="2439591"/>
            <a:ext cx="2447906" cy="761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protect parent–child links. Specialist email is unique; dependent rows cascade, while optional history references set NULL.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38813" y="3300636"/>
            <a:ext cx="2447906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
ON DELETE SET NULL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7225" y="4069259"/>
            <a:ext cx="7829550" cy="5214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57225" y="4069259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2" name="Text 19"/>
          <p:cNvSpPr/>
          <p:nvPr/>
        </p:nvSpPr>
        <p:spPr>
          <a:xfrm>
            <a:off x="657225" y="4069259"/>
            <a:ext cx="7829550" cy="521494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takeaway:</a:t>
            </a: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keys make every record addressable, relationships enforce valid connections, and referential actions preserve the intended treatment history.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35769"/>
            <a:ext cx="7829550" cy="6764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097961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435769"/>
            <a:ext cx="78295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SCHEMA QUALITY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639366"/>
            <a:ext cx="7829550" cy="330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2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to 3NF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57225" y="1297986"/>
            <a:ext cx="6429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separates facts so each value is stored once, depends on the correct key, and can be updated without creating conflicting copies.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7225" y="2283823"/>
            <a:ext cx="2447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FIRST NORMAL FORM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7225" y="2519567"/>
            <a:ext cx="2447906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values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7225" y="2887470"/>
            <a:ext cx="2447906" cy="54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contains one value. Repeating specialist assignments are not stored as a list inside a study record.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7225" y="3574442"/>
            <a:ext cx="48231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39540" y="3574442"/>
            <a:ext cx="177494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specialist assignment becomes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7225" y="3726247"/>
            <a:ext cx="52417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in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81398" y="3704816"/>
            <a:ext cx="10929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STUDY_APPOINTMENT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274391" y="3726247"/>
            <a:ext cx="2980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48019" y="2283823"/>
            <a:ext cx="2447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SECOND NORMAL FORM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348019" y="2519567"/>
            <a:ext cx="2447906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Whole-key dependency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348019" y="3141073"/>
            <a:ext cx="2447906" cy="36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Non-key attributes depend on the complete primary key, not just part of it.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48019" y="3652633"/>
            <a:ext cx="48231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860136" y="3631202"/>
            <a:ext cx="7715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AssignedRole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31661" y="3652633"/>
            <a:ext cx="113172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the complete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48019" y="3804438"/>
            <a:ext cx="2084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556471" y="3783006"/>
            <a:ext cx="14787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(StudyID, SpecialistID)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35228" y="3804438"/>
            <a:ext cx="2980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38813" y="2283823"/>
            <a:ext cx="2447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THIRD NORMAL FORM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38813" y="2519567"/>
            <a:ext cx="2447906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transitive duplication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038813" y="3141073"/>
            <a:ext cx="2447906" cy="54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Patient, specialist, clinic, and formulation facts remain in their own entities rather than being copied into treatment records.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038813" y="3817330"/>
            <a:ext cx="2447906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updates occur in one place and relationships are reconstructed through foreign keys.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57225" y="4622788"/>
            <a:ext cx="7829550" cy="5021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57225" y="4286609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1" name="Text 28"/>
          <p:cNvSpPr/>
          <p:nvPr/>
        </p:nvSpPr>
        <p:spPr>
          <a:xfrm>
            <a:off x="657225" y="4347118"/>
            <a:ext cx="7829550" cy="502183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MedPulseDB is substantially in 3NF under the stated project assumptions; controlled statuses could be further normalized into lookup tables in a production revision.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650" y="421481"/>
            <a:ext cx="7886700" cy="6764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28650" y="1083673"/>
            <a:ext cx="788670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28650" y="421481"/>
            <a:ext cx="305054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IMPLEMENTATION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625078"/>
            <a:ext cx="3050549" cy="330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2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implementation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831950" y="463618"/>
            <a:ext cx="683400" cy="491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44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628650" y="1590880"/>
            <a:ext cx="12558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DDL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8650" y="1790905"/>
            <a:ext cx="12558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8650" y="2026648"/>
            <a:ext cx="1255849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keys, foreign keys, data types, and referential actions.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082180" y="1733755"/>
            <a:ext cx="808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05968" y="1590880"/>
            <a:ext cx="12558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DATA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205968" y="1790905"/>
            <a:ext cx="12558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records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05968" y="2026648"/>
            <a:ext cx="1255849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meaningful sample rows per main table for repeatable tests.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59498" y="1733755"/>
            <a:ext cx="808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783285" y="1590880"/>
            <a:ext cx="12559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REPORTING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783285" y="1790905"/>
            <a:ext cx="12559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views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783285" y="2026648"/>
            <a:ext cx="1255905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active-study and abnormal-test reports.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36871" y="1733755"/>
            <a:ext cx="808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360659" y="1590880"/>
            <a:ext cx="12558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LOGIC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360659" y="1790905"/>
            <a:ext cx="12558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objects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60659" y="2026648"/>
            <a:ext cx="125584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 plus stock-validation trigger.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14189" y="1733755"/>
            <a:ext cx="808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937977" y="1590880"/>
            <a:ext cx="1441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OPERATIONS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937977" y="1790905"/>
            <a:ext cx="1441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queries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937977" y="2026648"/>
            <a:ext cx="1441642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joins, aggregation, subqueries, and modifications.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28650" y="2812461"/>
            <a:ext cx="7886700" cy="16407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28650" y="2812461"/>
            <a:ext cx="788670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9" name="Text 26"/>
          <p:cNvSpPr/>
          <p:nvPr/>
        </p:nvSpPr>
        <p:spPr>
          <a:xfrm>
            <a:off x="628650" y="2955336"/>
            <a:ext cx="37290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SQL COVERAGE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8650" y="3201795"/>
            <a:ext cx="3729038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query script demonstrates the full requested operation set rather than only SELECT statements.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8650" y="3660335"/>
            <a:ext cx="37290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· JOIN · GROUP BY/HAVING · nested SELECT
INSERT · UPDATE · DELETE · VIEW · CALL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86313" y="2955336"/>
            <a:ext cx="37290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EXECUTION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86313" y="3201795"/>
            <a:ext cx="3729038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scripts in dependency order from a clean MySQL 8.x database: tables → data → views → procedure/trigger → queries.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786313" y="3982473"/>
            <a:ext cx="3729038" cy="45641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</a:t>
            </a: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and DELETE examples are for disposable development data only.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21481"/>
            <a:ext cx="7829550" cy="6690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076195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421481"/>
            <a:ext cx="415414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DATABASE OBJECTS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625078"/>
            <a:ext cx="4154146" cy="322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and advanced objects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803375" y="456140"/>
            <a:ext cx="683400" cy="491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44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657225" y="1590545"/>
            <a:ext cx="37218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REPORTING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7225" y="1797714"/>
            <a:ext cx="372189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views simplify recurring analysis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7225" y="2262057"/>
            <a:ext cx="37218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vw_active_clinical_studies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7225" y="2447795"/>
            <a:ext cx="372189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studies to patients and returns only </a:t>
            </a: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studies with patient risk information.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7225" y="3006123"/>
            <a:ext cx="37218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vw_abnormal_test_results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7225" y="3191861"/>
            <a:ext cx="372189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tests, treatment logs, and studies to surface </a:t>
            </a: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</a:t>
            </a: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results for clinical review.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64881" y="1590545"/>
            <a:ext cx="37218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AND EVENT LOGIC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764881" y="1797714"/>
            <a:ext cx="372189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plus trigger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64881" y="2262057"/>
            <a:ext cx="37218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sp_GetStudiesByPatient(IN p_PatientID)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64881" y="2447795"/>
            <a:ext cx="372189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a patient identifier and returns that patient’s clinical studies through a reusable server-side routine.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64881" y="3006123"/>
            <a:ext cx="37218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trg_validate_stock_quantity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64881" y="3191861"/>
            <a:ext cx="3721894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before pharmacy-stock insertion and rejects any </a:t>
            </a: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AvailableUnits</a:t>
            </a: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with a database error.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7225" y="3850202"/>
            <a:ext cx="7829550" cy="6671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57225" y="3850202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2" name="Text 19"/>
          <p:cNvSpPr/>
          <p:nvPr/>
        </p:nvSpPr>
        <p:spPr>
          <a:xfrm>
            <a:off x="657225" y="3964502"/>
            <a:ext cx="11072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943100" y="3964502"/>
            <a:ext cx="6543675" cy="5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vw_active_clinical_studies;
CALL sp_GetStudiesByPatient(1);
INSERT INTO PHARMACY_STOCK (..., AvailableUnits, ...) VALUES (..., -1, ...); </a:t>
            </a: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rejected by trigger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788" y="421481"/>
            <a:ext cx="7972425" cy="6547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85788" y="1061907"/>
            <a:ext cx="7972425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585788" y="421481"/>
            <a:ext cx="452869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VERIFICATION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85788" y="617934"/>
            <a:ext cx="4528691" cy="3225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5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live demonstration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906624" y="471878"/>
            <a:ext cx="651588" cy="4685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42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250" dirty="0"/>
          </a:p>
        </p:txBody>
      </p:sp>
      <p:sp>
        <p:nvSpPr>
          <p:cNvPr id="8" name="Text 5"/>
          <p:cNvSpPr/>
          <p:nvPr/>
        </p:nvSpPr>
        <p:spPr>
          <a:xfrm>
            <a:off x="585788" y="1361945"/>
            <a:ext cx="5000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TEST CASES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5788" y="1704845"/>
            <a:ext cx="442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8713" y="1704845"/>
            <a:ext cx="30003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active-study view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29100" y="1704845"/>
            <a:ext cx="13573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Active studies return.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5788" y="2219195"/>
            <a:ext cx="442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8713" y="2219195"/>
            <a:ext cx="30003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abnormal-test view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29100" y="2219195"/>
            <a:ext cx="13573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results include study context.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5788" y="2733545"/>
            <a:ext cx="442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8713" y="2733545"/>
            <a:ext cx="30003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sp_GetStudiesByPatient(1)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29100" y="2733545"/>
            <a:ext cx="13573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for patient 1 return.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5788" y="3247895"/>
            <a:ext cx="442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8713" y="3247895"/>
            <a:ext cx="30003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AvailableUnits = -1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29100" y="3247895"/>
            <a:ext cx="13573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rejects the row.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5788" y="3762245"/>
            <a:ext cx="442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8713" y="3762245"/>
            <a:ext cx="30003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nonexistent PatientID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229100" y="3762245"/>
            <a:ext cx="13573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rejects the row.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029325" y="1361945"/>
            <a:ext cx="2571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LIVE-DEMO SEQUENCE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029325" y="1740564"/>
            <a:ext cx="321469" cy="465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50806" y="1740564"/>
            <a:ext cx="21502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AND COUNT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50806" y="1922729"/>
            <a:ext cx="2150269" cy="2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clean execution order and ten-row sample coverage.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29325" y="2334165"/>
            <a:ext cx="321469" cy="465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50806" y="2334165"/>
            <a:ext cx="21502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REPORT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50806" y="2516330"/>
            <a:ext cx="2150269" cy="2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join, aggregation, both views, and the stored procedure.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29325" y="2927765"/>
            <a:ext cx="321469" cy="465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50806" y="2927765"/>
            <a:ext cx="21502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RULE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450806" y="3109931"/>
            <a:ext cx="2150269" cy="2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trigger, foreign-key, and duplicate-key rejection.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29325" y="3521366"/>
            <a:ext cx="321469" cy="465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50806" y="3521366"/>
            <a:ext cx="21502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50806" y="3703532"/>
            <a:ext cx="2150269" cy="2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screenshots of successful statements and expected errors.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85788" y="4455189"/>
            <a:ext cx="7972425" cy="28787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85788" y="4455189"/>
            <a:ext cx="7972425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9" name="Text 36"/>
          <p:cNvSpPr/>
          <p:nvPr/>
        </p:nvSpPr>
        <p:spPr>
          <a:xfrm>
            <a:off x="585788" y="4455189"/>
            <a:ext cx="7972425" cy="287871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standard:</a:t>
            </a:r>
            <a:r>
              <a:rPr lang="en-US" sz="9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 not only what succeeds, but also which constraint or database object causes each invalid operation to fail.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EA7D0BB-EA7E-D00F-20BE-01DCCB67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49ADDE-0C6A-4661-91F1-29D9A6E29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1950"/>
            <a:ext cx="9143999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7651F261-E067-C3C8-DD50-8AA752BF79EB}"/>
              </a:ext>
            </a:extLst>
          </p:cNvPr>
          <p:cNvSpPr/>
          <p:nvPr/>
        </p:nvSpPr>
        <p:spPr>
          <a:xfrm>
            <a:off x="684119" y="137230"/>
            <a:ext cx="569651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UI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20953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225" y="421481"/>
            <a:ext cx="7829550" cy="6614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57225" y="1068660"/>
            <a:ext cx="7829550" cy="14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421481"/>
            <a:ext cx="52681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CLOSING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625078"/>
            <a:ext cx="5268125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Limitations, conclusion, and defense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852377" y="460046"/>
            <a:ext cx="634398" cy="48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4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657225" y="1611585"/>
            <a:ext cx="402790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55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MedPulseDB completes the relational database lifecycle.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7225" y="2227287"/>
            <a:ext cx="4027903" cy="803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connects clinical requirements to an ER model, a normalized relational schema, executable MySQL scripts, reusable views, a stored procedure, a validation trigger, and testable operations.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7225" y="3295055"/>
            <a:ext cx="12569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7225" y="3537942"/>
            <a:ext cx="12569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tables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042722" y="3295055"/>
            <a:ext cx="12569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42722" y="3537942"/>
            <a:ext cx="12569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views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428219" y="3295055"/>
            <a:ext cx="12569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28219" y="3537942"/>
            <a:ext cx="12569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operation types and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428219" y="3691533"/>
            <a:ext cx="12569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242340" y="1425848"/>
            <a:ext cx="36015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242340" y="1754460"/>
            <a:ext cx="122169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controls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242340" y="1947342"/>
            <a:ext cx="360156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CHECK constraints, controlled lookup values, indexes, and an UPDATE trigger for stock.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42340" y="2447404"/>
            <a:ext cx="17794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inventory semantics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42340" y="2640285"/>
            <a:ext cx="360156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stock to formulations or inventory batches, then model patient allocation separately.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42340" y="3140348"/>
            <a:ext cx="1593447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production scope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242340" y="3333229"/>
            <a:ext cx="360156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authentication, audit history, consent, privacy controls, measurements, and appointment times.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9308" y="4167394"/>
            <a:ext cx="7829550" cy="6731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1349</Words>
  <Application>Microsoft Office PowerPoint</Application>
  <PresentationFormat>On-screen Show (16:9)</PresentationFormat>
  <Paragraphs>241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Muhammad</cp:lastModifiedBy>
  <cp:revision>4</cp:revision>
  <dcterms:created xsi:type="dcterms:W3CDTF">2026-08-14T13:48:22Z</dcterms:created>
  <dcterms:modified xsi:type="dcterms:W3CDTF">2026-08-14T19:00:46Z</dcterms:modified>
</cp:coreProperties>
</file>